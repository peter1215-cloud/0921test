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1 頁 – 專案概述</a:t>
            </a:r>
          </a:p>
          <a:p/>
          <a:p/>
          <a:p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目標：在 Windows 本機上建置 **LINE Bot**，呼叫 **Google Gemini** 回覆使用者訊息。</a:t>
            </a:r>
          </a:p>
          <a:p>
            <a:pPr>
              <a:defRPr sz="1800"/>
            </a:pPr>
            <a:r>
              <a:t>完全使用 **免費方案**（Gemini free tier、LINE Messaging API 無限制、Cloudflare quick tunnel）</a:t>
            </a:r>
          </a:p>
          <a:p>
            <a:pPr>
              <a:defRPr sz="1800"/>
            </a:pPr>
            <a:r>
              <a:t>不會儲存信用卡資訊，避免任何付費風險。</a:t>
            </a:r>
          </a:p>
          <a:p>
            <a:pPr>
              <a:defRPr sz="1800"/>
            </a:pPr>
            <a:r>
              <a:t>所有機密資訊放在 `.env`，且 `.gitignore` 已排除，確保不會洩漏至 GitHub。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2 頁 – 系統架構圖</a:t>
            </a:r>
          </a:p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flowchart TD</a:t>
            </a:r>
          </a:p>
          <a:p>
            <a:pPr>
              <a:defRPr sz="1800"/>
            </a:pPr>
            <a:r>
              <a:t>    subgraph LocalHost[本機環境]</a:t>
            </a:r>
          </a:p>
          <a:p>
            <a:pPr>
              <a:defRPr sz="1800"/>
            </a:pPr>
            <a:r>
              <a:t>        A[Flask App (app.py)] --&gt; B[GeminiService (ai_service.py)]</a:t>
            </a:r>
          </a:p>
          <a:p>
            <a:pPr>
              <a:defRPr sz="1800"/>
            </a:pPr>
            <a:r>
              <a:t>        B --&gt; C[Google Gemini (SDK or REST)]</a:t>
            </a:r>
          </a:p>
          <a:p>
            <a:pPr>
              <a:defRPr sz="1800"/>
            </a:pPr>
            <a:r>
              <a:t>    end</a:t>
            </a:r>
          </a:p>
          <a:p>
            <a:pPr>
              <a:defRPr sz="1800"/>
            </a:pPr>
            <a:r>
              <a:t>    D[Cloudflare Quick Tunnel] --&gt;|公開 URL| A</a:t>
            </a:r>
          </a:p>
          <a:p>
            <a:pPr>
              <a:defRPr sz="1800"/>
            </a:pPr>
            <a:r>
              <a:t>    E[LINE Platform] --&gt;|Webhook| D</a:t>
            </a:r>
          </a:p>
          <a:p>
            <a:pPr>
              <a:defRPr sz="1800"/>
            </a:pPr>
            <a:r>
              <a:t>    A --&gt;|回覆| E</a:t>
            </a:r>
          </a:p>
          <a:p>
            <a:pPr>
              <a:defRPr sz="1800"/>
            </a:pPr>
            <a:r>
              <a:t>    click A "file:///c:/Users/user/Desktop/0921test/app.py" "app.py"</a:t>
            </a:r>
          </a:p>
          <a:p>
            <a:pPr>
              <a:defRPr sz="1800"/>
            </a:pPr>
            <a:r>
              <a:t>    click B "file:///c:/Users/user/Desktop/0921test/ai_service.py" "ai_service.py"</a:t>
            </a:r>
          </a:p>
          <a:p>
            <a:pPr>
              <a:defRPr sz="1800"/>
            </a:pPr>
            <a:r>
              <a:t>**Flask** 提供 `/callback` 與健康檢查 `/` 端點。</a:t>
            </a:r>
          </a:p>
          <a:p>
            <a:pPr>
              <a:defRPr sz="1800"/>
            </a:pPr>
            <a:r>
              <a:t>**Cloudflare** 產生公開 URL `https://ranch-mathematics-weekly-fired.trycloudflare.com/callback`。</a:t>
            </a:r>
          </a:p>
          <a:p>
            <a:pPr>
              <a:defRPr sz="1800"/>
            </a:pPr>
            <a:r>
              <a:t>**LINE** 依此 URL 呼叫 webhook，發送訊息至 Flask，Flask 再呼叫 Gemini，最後回傳文字給使用者。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3 頁 – 防止幻覺 (Anti‑Hallucination) 措施</a:t>
            </a:r>
          </a:p>
          <a:p/>
          <a:p/>
          <a:p/>
          <a:p/>
          <a:p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**系統指示**：明確要求模型只能在有把握的情況下回答，否則回覆 *"抱歉，我目前沒有這方面的確切資料，建議您查閱官方最新資訊"*。</a:t>
            </a:r>
          </a:p>
          <a:p>
            <a:pPr>
              <a:defRPr sz="1800"/>
            </a:pPr>
            <a:r>
              <a:t>**溫度設定**：`temperature = 0.2`（SDK、REST 均相同），降低隨機性，提升答案一致性。</a:t>
            </a:r>
          </a:p>
          <a:p>
            <a:pPr>
              <a:defRPr sz="1800"/>
            </a:pPr>
            <a:r>
              <a:t>**模型備援**：`gemini-3.5-flash` 為主，失敗時自動切換至 `gemini-3.8-flash`、`gemini-1.5-pro`。</a:t>
            </a:r>
          </a:p>
          <a:p>
            <a:pPr>
              <a:defRPr sz="1800"/>
            </a:pPr>
            <a:r>
              <a:t>**示例**：</a:t>
            </a:r>
          </a:p>
          <a:p>
            <a:pPr>
              <a:defRPr sz="1800"/>
            </a:pPr>
            <a:r>
              <a:t>  - 問題：*"2026 年的總統是誰"* → 回覆 *"抱歉，我目前沒有這方面的確切資料..."*。</a:t>
            </a:r>
          </a:p>
          <a:p>
            <a:pPr>
              <a:defRPr sz="1800"/>
            </a:pPr>
            <a:r>
              <a:t>  - 問題：*"台北今天的天氣"* → 正常回覆天氣資訊。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4 頁 – 安全與成本分析</a:t>
            </a:r>
          </a:p>
          <a:p/>
          <a:p/>
          <a:p/>
          <a:p/>
          <a:p/>
          <a:p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**憑證管理**：`.env` 包含 `LINE_CHANNEL_SECRET`, `LINE_CHANNEL_ACCESS_TOKEN`, `GEMINI_API_KEY`，已加入 `.gitignore` 防止上傳。</a:t>
            </a:r>
          </a:p>
          <a:p>
            <a:pPr>
              <a:defRPr sz="1800"/>
            </a:pPr>
            <a:r>
              <a:t>**Webhook 簽名驗證**：`app.py` 會檢查 `X-Line-Signature`，未通過則記錄 warning，避免偽造請求。</a:t>
            </a:r>
          </a:p>
          <a:p>
            <a:pPr>
              <a:defRPr sz="1800"/>
            </a:pPr>
            <a:r>
              <a:t>**免費額度**：</a:t>
            </a:r>
          </a:p>
          <a:p>
            <a:pPr>
              <a:defRPr sz="1800"/>
            </a:pPr>
            <a:r>
              <a:t>  - Gemini：15 RPM、每日 1500 次請求，超過會回傳 429，並不會產生費用。</a:t>
            </a:r>
          </a:p>
          <a:p>
            <a:pPr>
              <a:defRPr sz="1800"/>
            </a:pPr>
            <a:r>
              <a:t>  - Cloudflare 快速隧道：免費版可持續運行，無需額外付費。</a:t>
            </a:r>
          </a:p>
          <a:p>
            <a:pPr>
              <a:defRPr sz="1800"/>
            </a:pPr>
            <a:r>
              <a:t>  - LINE Messaging API：基本回覆功能無付費上限。</a:t>
            </a:r>
          </a:p>
          <a:p>
            <a:pPr>
              <a:defRPr sz="1800"/>
            </a:pPr>
            <a:r>
              <a:t>**風險**：只要不自行開啟付費功能（如 Gemini 的 Search、Codey 等），系統不會產生任何收費。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5 頁 – 部署與使用步驟 &amp; 未來擴充</a:t>
            </a:r>
          </a:p>
          <a:p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**環境建置**</a:t>
            </a:r>
          </a:p>
          <a:p>
            <a:pPr>
              <a:defRPr sz="1800"/>
            </a:pPr>
            <a:r>
              <a:t>   ```powershell</a:t>
            </a:r>
          </a:p>
          <a:p>
            <a:pPr>
              <a:defRPr sz="1800"/>
            </a:pPr>
            <a:r>
              <a:t>   cd C:\Users\user\Desktop\0921test</a:t>
            </a:r>
          </a:p>
          <a:p>
            <a:pPr>
              <a:defRPr sz="1800"/>
            </a:pPr>
            <a:r>
              <a:t>   python -m venv .venv</a:t>
            </a:r>
          </a:p>
          <a:p>
            <a:pPr>
              <a:defRPr sz="1800"/>
            </a:pPr>
            <a:r>
              <a:t>   .venv\Scripts\activate</a:t>
            </a:r>
          </a:p>
          <a:p>
            <a:pPr>
              <a:defRPr sz="1800"/>
            </a:pPr>
            <a:r>
              <a:t>   pip install -r requirements.txt</a:t>
            </a:r>
          </a:p>
          <a:p>
            <a:pPr>
              <a:defRPr sz="1800"/>
            </a:pPr>
            <a:r>
              <a:t>   ```</a:t>
            </a:r>
          </a:p>
          <a:p>
            <a:pPr>
              <a:defRPr sz="1800"/>
            </a:pPr>
            <a:r>
              <a:t>2. **設定憑證**：複製 `.env.example` 為 `.env`，填入提供的金鑰。</a:t>
            </a:r>
          </a:p>
          <a:p>
            <a:pPr>
              <a:defRPr sz="1800"/>
            </a:pPr>
            <a:r>
              <a:t>3. **啟動服務**：執行 `start_bot.bat`，同時啟動 Flask 與 Cloudflare 隧道。</a:t>
            </a:r>
          </a:p>
          <a:p>
            <a:pPr>
              <a:defRPr sz="1800"/>
            </a:pPr>
            <a:r>
              <a:t>4. **測試**：在 LINE 上傳訊息，應得到 Gemini 回覆；可在瀏覽器開啟 `http://localhost:&lt;PORT&gt;/` 查看健康頁面。</a:t>
            </a:r>
          </a:p>
          <a:p>
            <a:pPr>
              <a:defRPr sz="1800"/>
            </a:pPr>
            <a:r>
              <a:t>5. **未來方向**</a:t>
            </a:r>
          </a:p>
          <a:p>
            <a:pPr>
              <a:defRPr sz="1800"/>
            </a:pPr>
            <a:r>
              <a:t>   - 加入 **訊息紀錄** 與 **資料庫**（SQLite / PostgreSQL）</a:t>
            </a:r>
          </a:p>
          <a:p>
            <a:pPr>
              <a:defRPr sz="1800"/>
            </a:pPr>
            <a:r>
              <a:t>   - 擴充 **多模型選擇**、**多語言支援**</a:t>
            </a:r>
          </a:p>
          <a:p>
            <a:pPr>
              <a:defRPr sz="1800"/>
            </a:pPr>
            <a:r>
              <a:t>   - 使用 **CI/CD** 自動部署至雲端（例如 Railway 或 Render）</a:t>
            </a:r>
          </a:p>
          <a:p>
            <a:pPr>
              <a:defRPr sz="1800"/>
            </a:pPr>
            <a:r>
              <a:t>   - 加入 **自訂指令**、**快速回覆**，提高使用者互動體驗。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